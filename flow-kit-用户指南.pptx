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0" y="2926080"/>
            <a:ext cx="9418320" cy="36576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01168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Times New Roman"/>
                <a:ea typeface="宋体"/>
              </a:rPr>
              <a:t>Flow-Kit 用户指南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200400"/>
            <a:ext cx="9418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 i="0">
                <a:solidFill>
                  <a:srgbClr val="BFDBFE"/>
                </a:solidFill>
                <a:latin typeface="Times New Roman"/>
                <a:ea typeface="宋体"/>
              </a:rPr>
              <a:t>AI 驱动的软件开发流程框架 · 从想法到上线的完整生命周期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023360"/>
            <a:ext cx="9418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 i="0">
                <a:solidFill>
                  <a:srgbClr val="93C5FD"/>
                </a:solidFill>
                <a:latin typeface="Times New Roman"/>
                <a:ea typeface="宋体"/>
              </a:rPr>
              <a:t>2026-07-13  |  github.com/hellrabb/flow-kit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什么是 flow-kit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 i="0">
                <a:solidFill>
                  <a:srgbClr val="1E293B"/>
                </a:solidFill>
                <a:latin typeface="Times New Roman"/>
                <a:ea typeface="宋体"/>
              </a:rPr>
              <a:t>flow-kit 是一套 AI 驱动的软件开发流程框架，</a:t>
            </a:r>
          </a:p>
          <a:p>
            <a:pPr>
              <a:spcBef>
                <a:spcPts val="600"/>
              </a:spcBef>
            </a:pPr>
            <a:r>
              <a:rPr sz="1500" b="0" i="0">
                <a:solidFill>
                  <a:srgbClr val="1E293B"/>
                </a:solidFill>
                <a:latin typeface="Times New Roman"/>
                <a:ea typeface="宋体"/>
              </a:rPr>
              <a:t>为 Claude Code 提供结构化的变更生命周期管理。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核心组件：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flow-kit 核心引擎 — GO.md / RULES.md / prompts / reference / templates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flow-* 技能包装器 — 17 个 Claude Code skill，委托到核心引擎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Stop Hook 系统 — 17 个模块化会话后处理脚本（含 L2/L3 独立审查）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PreToolUse Hook — 独立审查 gate + 自动 checkpoint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SessionStart Hook — 会话恢复 + 报告提醒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brooks-lint — 6 skill 代码审查插件（review/audit/debt/test/health/sweep）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🔹 ppt-diagram-pipeline — PPT 图表渲染管线（Markdown → .pptx）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核心理念：将模糊想法拆分为 8 个顺序阶段，每阶段有明确的输入、输出、门禁和自检清单。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核心概念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change-id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kebab-case 格式，2~4 词（如
dark-mode）。AI 在阶段 0 自动
生成，用作 .specs/&lt;id&gt;/ 目录名。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.flow-active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运行时工作流状态文件（JSON）。
记录 change_id / phase / task_id /
interrupt checkpoint / goal。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8 阶段流水线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0 CHANGE → 1 REQUIREMENT →
2 DESIGN → 2a UI-DESIGN →
3 TASK → 4 DEV → 5 TEST →
6 REVIEW → 7 INTEGRATION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横向命令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独立于流水线的 5 个命令：
I-intel（入场扫描）/
M-health（健康巡检）/
A-architect（架构文档）/
A-evolve（架构沉淀）/
L-restyle（视觉重构）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PCSC + PCG 双层防护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PCSC（Prompt 层自检）+ PCG
（GO.md 路由层门禁）确保每个
阶段的产物完整性，防止跳过。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Goal 系统 + Pipeline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Goal 自动迭代引擎：单阶段
自循环 + Pipeline 跨阶段自动
推进。Toll-Gate 暂停确认。
Auto-Advance 无人值守模式。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整体架构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1632" y="1188720"/>
            <a:ext cx="5818255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flow-kit 核心引擎是大脑——GO.md 统一入口接收用户意图，路由到对应的阶段 prompt。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17 个 flow-* skill 包装器将 Claude Code 的 /flow-go、/flow 等命令委托到核心引擎。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Hook 系统（Stop + PreToolUse + SessionStart）提供会话后处理、独立审查 gate、自动 checkpoint 等运行时能力。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brooks-lint 和 ppt-diagram-pipeline 是生态中的独立工具 skill。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两大命令：/flow-go vs /flow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🔷 /flow-go — 统一入口（自动路由）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用户描述意图 → AI 自动解析、路由到对应阶段。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例：/flow-go 我想加一个通知中心 → 自动路由到阶段 0，生成 change-id，输出预算估算。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🔷 /flow — 状态管理（手动操作）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start / stop / phase / task / goal / checkpoint / doctor — 操作 .flow-active 文件。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1" i="0">
                <a:solidFill>
                  <a:srgbClr val="1E293B"/>
                </a:solidFill>
                <a:latin typeface="Times New Roman"/>
                <a:ea typeface="宋体"/>
              </a:rPr>
              <a:t>典型使用顺序：先 /flow start 创建状态文件 → 用 /flow-go 描述意图让 AI 自动路由。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E293B"/>
                </a:solidFill>
                <a:latin typeface="Times New Roman"/>
                <a:ea typeface="宋体"/>
              </a:rPr>
              <a:t>路由关键词速查：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新事物 → 阶段 0 | 继续/恢复 → 阶段 4 | 设计 → 阶段 2 | UI → 阶段 2a | 测试 → 阶段 5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审查 → 阶段 6 | 集成 → 阶段 7 | 体检 → M-health | 扫描 → I-intel | 架构 → A-architect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8 阶段流水线总览</a:t>
            </a:r>
          </a:p>
        </p:txBody>
      </p:sp>
      <p:pic>
        <p:nvPicPr>
          <p:cNvPr id="4" name="Picture 3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3680" y="1188720"/>
            <a:ext cx="249416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每个阶段产出明确的产物文件（.md），通过 Toll-Gate 门禁过渡到下一阶段。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阶段 2a（UI-DESIGN）仅前端项目触发；非前端项目从阶段 2 直接进入阶段 3。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0-1：从模糊想法到可执行需求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0 · CHANGE — 变更提案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输入：用户一句话描述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产出：.specs/&lt;change-id&gt;/CHANGE.md（Why / What / 影响面 / 范围排除 v1 v2 out / 验收线）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AI 自动生成 change-id（kebab-case）+ 创建目录 + 反问澄清需求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架构级变更检测（步骤 0.4）：涉及拆模块/换数据库/改公共契约 → 先跑 A-architect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1 · REQUIREMENT — 需求文档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输入：CHANGE.md（必须存在，Artifact Preflight Gate）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产出：REQUIREMENT.md（每条需求含 Given/When/Then 验收准则）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约束：不允许在需求阶段做技术设计决策（框架、库、表结构等）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v1/v2/out 范围必须与 CHANGE.md 对齐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2-2a：技术设计 + UI 美学设计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2 · DESIGN — 技术设计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输入：CHANGE.md + REQUIREMENT.md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产出：DESIGN.md + 可选 ADR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关键步骤：架构级变更预检 → 技术栈预选（2-3 卡片推荐）→ 既有架构对齐（brownfield 必跑）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→ 技术决策（每条有理由）→ ADR → 风险 + 缓解策略 → 架构沉淀建议（§9）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2a · UI-DESIGN — UI 美学设计（仅前端项目）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输入：CHANGE.md + REQUIREMENT.md + DESIGN.md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产出：UI-DESIGN.md（Design Tokens + 组件规约 + Do's and Don'ts + 反 AI-slop 自检）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关键步骤：greenfield/brownfield 判定 → 美学方向决策 → v0 草稿确认 → Design Tokens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外部 skill 集成：ui-ux-pro-max（67 styles / 161 palettes / 57 font pairings）/ impeccable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3-4：任务拆解 + 开发执行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3 · TASK — 任务拆解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输入：REQUIREMENT.md + DESIGN.md（+ UI-DESIGN.md）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产出：TASK.md（XML 任务模板：id / wave / depends_on / read_files / write_files / done / verify）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波次划分：波次 1 基础核心 → 波次 2 功能 → 波次 3 打磨优化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4 · DEV — 开发执行（TDD 驱动）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输入：TASK.md 当前 task（或用户显式提供的临时最小 TASK）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产出：代码 + 测试 + T&lt;N&gt;-SUMMARY.md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关键步骤：读任务 → 沿用既有抽象 grep（强制）→ 扫 LESSONS（强制）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→ 破坏性变更高门槛（grep 引用图 + 列出影响清单 + 反问确认）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→ TDD RED→GREEN→REFACTOR → 跑 verify → self-review → diff 边界验证 → 原子提交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  中断恢复：/flow-go 继续 → 从 .flow-active.interrupt 自动恢复上下文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5-6：测试 + 审查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测试 · 第 1 轮：功能测试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测试矩阵 + UAT 脚本
覆盖率 + 衰退风险评估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测试 · 第 2-5 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性能测试（LCP/FID/CLS）
安全测试（OWASP Top 10）
兼容性测试 + 可观测性验证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第 1 轮：Spec 合规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逐条对照 REQUIREMENT AC
检查是否全部满足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第 2 轮：代码质量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6 维衰退风险诊断
Cognitive Overload / Change
Propagation / Duplication /
Accidental Complexity /
Dependency / Domain Distortion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第 3 轮：UI 视觉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Design Tokens 一致性
Anti-Pattern 扫描
视觉北极星一致性
无障碍快检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审查 · L2+L3 独立审查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L2 子 agent 盲审（固化模板）
L3 外部模型异步审查
Symptom→Source→Consequence→Remedy
🔴Critical 🟡Major 🟢Minor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阶段 7：集成与归档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563EB"/>
                </a:solidFill>
                <a:latin typeface="Times New Roman"/>
                <a:ea typeface="宋体"/>
              </a:rPr>
              <a:t>阶段 7 · INTEGRATION — 集成、合并与发布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1E293B"/>
                </a:solidFill>
                <a:latin typeface="Times New Roman"/>
                <a:ea typeface="宋体"/>
              </a:rPr>
              <a:t>关键步骤：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1. 跑全套自动化（test + lint + build）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2. 引导人工 UAT — 逐条 AC 打勾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3. 失败诊断（自动 + 人工）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4. 提名 LESSONS（在归档前必跑，至少一条）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5. 归档（ARCHIVE.md）— 完整的 change 追溯</a:t>
            </a:r>
          </a:p>
          <a:p>
            <a:pPr>
              <a:spcBef>
                <a:spcPts val="600"/>
              </a:spcBef>
            </a:pPr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  6. Git 收尾（均需用户明示确认）— 合并到 main / 创建 PR</a:t>
            </a:r>
          </a:p>
          <a:p>
            <a:pPr>
              <a:spcBef>
                <a:spcPts val="600"/>
              </a:spcBef>
            </a:pPr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400" b="1" i="0">
                <a:solidFill>
                  <a:srgbClr val="1E293B"/>
                </a:solidFill>
                <a:latin typeface="Times New Roman"/>
                <a:ea typeface="宋体"/>
              </a:rPr>
              <a:t>完成后：/flow stop 清理 .flow-active → 建议 /flow-go 同步架构（A-evolve）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自检清单：自动化全绿 ✅ | UAT 全部打勾 ✅ | LESSONS 已提名 ✅ | ARCHIVE 已写入 ✅ | Git 操作已确认 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Pipeline Goal 交互时序</a:t>
            </a:r>
          </a:p>
        </p:txBody>
      </p:sp>
      <p:pic>
        <p:nvPicPr>
          <p:cNvPr id="4" name="Picture 3" descr="pipeline_go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8417" y="1188720"/>
            <a:ext cx="1764686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457200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Pipeline Goal 实现跨阶段自动推进：Goal 设定 → Toll-Gate 暂停确认 → L2 同步盲审 → L3 异步外部审查。</a:t>
            </a:r>
          </a:p>
          <a:p>
            <a:pPr>
              <a:spcBef>
                <a:spcPts val="3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L3 在会话结束后由 Stop hook 异步调度，下次会话通过 SessionStart banner 注入结果。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PCSC + PCG 双层防护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1E293B"/>
                </a:solidFill>
                <a:latin typeface="Times New Roman"/>
                <a:ea typeface="宋体"/>
              </a:rPr>
              <a:t>双层独立检查确保每个阶段产物完整性：</a:t>
            </a:r>
          </a:p>
          <a:p>
            <a:pPr>
              <a:spcBef>
                <a:spcPts val="5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第一层 · PCSC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Prompt 内置产物自检段。AI 在进入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Toll-Gate 前逐项自检产物清单。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任一 ❌ → 禁止进入 toll-gate。</a:t>
            </a:r>
          </a:p>
          <a:p>
            <a:pPr>
              <a:spcBef>
                <a:spcPts val="5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5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第二层 · PCG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GO.md 路由层独立门禁。test -f 检查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磁盘产物。独立于 prompt 运行——即使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AI 忘记跑 PCSC，PCG 也会在路由层拦截。</a:t>
            </a:r>
          </a:p>
          <a:p>
            <a:pPr>
              <a:spcBef>
                <a:spcPts val="5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设计意图：修复阶段跳过漏洞——AI 可能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在 PCSC 不完整时直接 transition。PCG 作</a:t>
            </a:r>
          </a:p>
          <a:p>
            <a:pPr>
              <a:spcBef>
                <a:spcPts val="5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为第二道防线，确保磁盘产物必须存在。</a:t>
            </a:r>
          </a:p>
        </p:txBody>
      </p:sp>
      <p:pic>
        <p:nvPicPr>
          <p:cNvPr id="5" name="Picture 4" descr="pcsc_pc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7873" y="1234440"/>
            <a:ext cx="3629293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横向命令（独立于流水线）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I-intel · 入场扫描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生成 CONTEXT.md
术语表 + 既有抽象索引
+ 禁动清单 + 命名约定
首次使用 flow-kit 必跑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M-health · 健康巡检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代码库健康诊断 + 技术债盘点
快速/标准/深度三种模式
brooks-lint 优先，AI 内置回退
冗余扫描：jscpd/knip/depcheck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A-architect · 架构文档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生成 ARCHITECTURE.md + ADR
系统概览 + 模块清单
+ 跨模块契约 + 容量边界
首次/重构时建立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A-evolve · 架构沉淀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扫描已归档 DESIGN.md §9
聚合分类 → 用户 review
→ patch CONTEXT.md
+ ARCHITECTURE.md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L-restyle · 视觉重构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保留功能，重做 UI 视觉
自动生成 change-id
v1→v2 视觉对照表
组件库迁移/品牌升级适用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Stop Hook 系统（17 模块）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475569"/>
                </a:solidFill>
                <a:latin typeface="Times New Roman"/>
                <a:ea typeface="宋体"/>
              </a:rPr>
              <a:t>每次 Claude Code 会话结束时自动运行的模块化后处理脚本链：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基础设施：00-gate（入口门禁）| 01-transcript-parse（转录解析）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文件质量：20-claude-md | 21-memory | 22-git | 23-quality | 24-session | 25-project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工作流：26-workflow（阶段门禁 + 产物完整性 + 未完成 task + checkpoint 断层）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弱模型护栏：27-interactive-ui-check（检测跳过交互 gate → 矫正文件）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弱模型合规：28-weak-model-compliance（L1 规则 + L2 自检 + L3 证据链 → 矫正文件）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独立审查：29-independent-review（L3 外部模型盲审，异步调度）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AI 分析：30-ai-analyze（提交结构化数据给 AI 深度分析）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自动推进：31-auto-advance（auto_advance=true 时自动 transition）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回退兜底：32-fallback-guard（mode=fallback 时自动标记 goal.status=done）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状态完整性：33-flow-active-integrity（.flow-active ↔ 磁盘产物交叉验证 + 时效性检测）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🔹 报告：99-report（生成 stop-hook-report.md + token 用量展示）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PreToolUse Hook（2 模块）：independent-review-gate（硬拦截 commit/PR/切阶段）+ auto-checkpoint（Write/Edit 前自动写 interrupt）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SessionStart Hook（2 模块）：flow-kit-resume（中断恢复 + 矫正注入）+ stop-report-reminder（报告提醒）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brooks-lint 代码审查插件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PR 代码审查
发现衰退风险和设计坏味
Symptom→Source→Consequence→Remedy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5196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/brooks-audit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架构审计
模块依赖图 + 分层完整性
+ 循环依赖检测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23444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0" y="13716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/brooks-debt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0" y="178308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技术债评估
分类 + 优先级排序
构建重构路线图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测试质量审查
脆性测试 / mock 滥用
/ 覆盖率幻觉诊断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/brooks-health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代码库健康仪表盘
四维综合评分
PR/架构/技术债/测试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3566160"/>
            <a:ext cx="329184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3703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2563EB"/>
                </a:solidFill>
                <a:latin typeface="Times New Roman"/>
                <a:ea typeface="宋体"/>
              </a:rPr>
              <a:t>/brooks-sweep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4114800"/>
            <a:ext cx="2926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475569"/>
                </a:solidFill>
                <a:latin typeface="Times New Roman"/>
                <a:ea typeface="宋体"/>
              </a:rPr>
              <a:t>全库清扫 + 自动修复
安全变更自动应用
风险变更确认后执行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典型工作流：新功能开发 10 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0：/flow start（仅首次，初始化 .flow-active）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1：/flow-go 我想加一个通知中心 → AI 路由到阶段 0，生成 change-id + CHANGE.md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2：/flow-go 写需求 → 阶段 1，REQUIREMENT.md（Given/When/Then AC）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3：/flow-go 做技术设计 → 阶段 2，技术栈预选 + 既有架构对齐 + ADR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4：/flow-go 确定 UI 设计 → 阶段 2a（前端项目），Design Tokens + 组件规约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5：/flow-go 拆任务 → 阶段 3，TASK.md（T1, T2, T3... + 波次划分）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6：/flow-go 执行 T1 → 阶段 4，TDD 驱动开发 → T1-SUMMARY.md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7：/flow-go 开始测试 → 阶段 5，五轮测试金字塔 → TEST.md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8：/flow-go 审查代码 → 阶段 6，三轮审查（spec + 代码质量 + UI）→ REVIEW.md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9：/flow-go 集成上线 → 阶段 7，自动化验证 + UAT + 归档</a:t>
            </a:r>
          </a:p>
          <a:p>
            <a:pPr>
              <a:spcBef>
                <a:spcPts val="600"/>
              </a:spcBef>
            </a:pPr>
            <a:r>
              <a:rPr sz="1300" b="0" i="0">
                <a:solidFill>
                  <a:srgbClr val="475569"/>
                </a:solidFill>
                <a:latin typeface="Times New Roman"/>
                <a:ea typeface="宋体"/>
              </a:rPr>
              <a:t>步骤 10：/flow stop → /flow-go 同步架构（A-evolve 沉淀本次架构变更）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提示：阶段 0→1→2→2a→3 可以在同一轮对话里连续做——每完成一个阶段 AI 会主动提示下一步，只需回复“继续”。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1E293B"/>
                </a:solidFill>
                <a:latin typeface="Times New Roman"/>
                <a:ea typeface="宋体"/>
              </a:rPr>
              <a:t>小改动（&lt; 50 行）可走压缩流程：AI 判断后可跳过阶段 1/2/3，直接进入阶段 4。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20040"/>
            <a:ext cx="54864" cy="365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 i="0">
                <a:solidFill>
                  <a:srgbClr val="1E293B"/>
                </a:solidFill>
                <a:latin typeface="Times New Roman"/>
                <a:ea typeface="宋体"/>
              </a:rPr>
              <a:t>文件结构 + Token 预算参考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项目级文件结构：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.flow-active → .specs/STATE.md, CONTEXT.md, CHANGELOG.md, LESSONS.md, health/, archive/, &lt;change-id&gt;/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.claude/ → settings.json, stop-hook.json, hooks/(session-start/, pre-tool-use/, stop/)</a:t>
            </a:r>
          </a:p>
          <a:p>
            <a:pPr>
              <a:spcBef>
                <a:spcPts val="600"/>
              </a:spcBef>
            </a:pPr>
            <a:r>
              <a:rPr sz="6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全局文件结构（~/.claude/）：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flow-kit/（核心引擎：GO.md / RULES.md / prompts/ / reference/ / templates/）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skills/flow-*/（17 个 skill 包装器）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skills/ppt-diagram-pipeline/（PPT 图表渲染管线）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plugins/.../brooks-lint/（6 skill 代码审查插件）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tools/brooks-lint/（离线工具：depcheck / jscpd / knip / ts-prune）</a:t>
            </a:r>
          </a:p>
          <a:p>
            <a:pPr>
              <a:spcBef>
                <a:spcPts val="600"/>
              </a:spcBef>
            </a:pPr>
            <a:r>
              <a:rPr sz="800" b="0" i="0">
                <a:solidFill>
                  <a:srgbClr val="475569"/>
                </a:solidFill>
                <a:latin typeface="Times New Roman"/>
                <a:ea typeface="宋体"/>
              </a:rPr>
              <a:t/>
            </a:r>
          </a:p>
          <a:p>
            <a:pPr>
              <a:spcBef>
                <a:spcPts val="600"/>
              </a:spcBef>
            </a:pPr>
            <a:r>
              <a:rPr sz="1600" b="1" i="0">
                <a:solidFill>
                  <a:srgbClr val="2563EB"/>
                </a:solidFill>
                <a:latin typeface="Times New Roman"/>
                <a:ea typeface="宋体"/>
              </a:rPr>
              <a:t>Token 预算参考（一个中等 change，5 task）：</a:t>
            </a:r>
          </a:p>
          <a:p>
            <a:pPr>
              <a:spcBef>
                <a:spcPts val="600"/>
              </a:spcBef>
            </a:pPr>
            <a:r>
              <a:rPr sz="1200" b="0" i="0">
                <a:solidFill>
                  <a:srgbClr val="475569"/>
                </a:solidFill>
                <a:latin typeface="Times New Roman"/>
                <a:ea typeface="宋体"/>
              </a:rPr>
              <a:t>  完整模式 ~250k-530k | 极简模式 ~205k-445k（省 ~20%）| 单点调用按需 |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475569"/>
                </a:solidFill>
                <a:latin typeface="Times New Roman"/>
                <a:ea typeface="宋体"/>
              </a:rPr>
              <a:t>  成本因子：前端 +20% | schema 变更 +5-10% | brooks-lint 已装 +10% | 跨模型 +30% | task&lt;3 则 -30%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